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99" d="100"/>
          <a:sy n="99" d="100"/>
        </p:scale>
        <p:origin x="340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e6c548789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g2e6c548789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e6c5487893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g2e6c5487893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37" name="Google Shape;37;p2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7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7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7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7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7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7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7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7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7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/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70402020202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7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7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7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7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7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7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7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7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/>
        </p:txBody>
      </p:sp>
      <p:sp>
        <p:nvSpPr>
          <p:cNvPr id="8" name="Google Shape;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7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"/>
          <p:cNvSpPr txBox="1"/>
          <p:nvPr/>
        </p:nvSpPr>
        <p:spPr>
          <a:xfrm>
            <a:off x="389467" y="540455"/>
            <a:ext cx="6690575" cy="2028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704020202020204"/>
              <a:buNone/>
            </a:pPr>
            <a:r>
              <a:rPr lang="en-US" altLang="en-US" sz="4000" b="1" i="0" u="none" strike="noStrike" cap="none" dirty="0">
                <a:solidFill>
                  <a:srgbClr val="1BB37E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/>
              </a:rPr>
              <a:t>Profit Prediction of a Company using Machine Learning</a:t>
            </a:r>
            <a:endParaRPr lang="en-US" altLang="en-US" sz="4000" b="1" i="0" u="none" strike="noStrike" cap="none" dirty="0">
              <a:solidFill>
                <a:srgbClr val="1BB37E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704020202020204"/>
            </a:endParaRPr>
          </a:p>
        </p:txBody>
      </p:sp>
      <p:sp>
        <p:nvSpPr>
          <p:cNvPr id="2" name="Google Shape;55;p1"/>
          <p:cNvSpPr txBox="1"/>
          <p:nvPr/>
        </p:nvSpPr>
        <p:spPr>
          <a:xfrm>
            <a:off x="4647166" y="2879527"/>
            <a:ext cx="4052513" cy="2028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en-US" altLang="en-US" sz="2000" b="1" i="0" u="none" strike="noStrike" cap="none" dirty="0">
                <a:solidFill>
                  <a:srgbClr val="1BB37E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/>
              </a:rPr>
              <a:t>Presented By:</a:t>
            </a:r>
            <a:endParaRPr lang="en-US" altLang="en-US" sz="2000" b="1" i="0" u="none" strike="noStrike" cap="none" dirty="0">
              <a:solidFill>
                <a:srgbClr val="1BB37E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704020202020204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en-US" altLang="en-US" sz="2000" b="1" i="0" u="none" strike="noStrike" cap="none" dirty="0">
                <a:solidFill>
                  <a:srgbClr val="1BB37E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/>
              </a:rPr>
              <a:t>M. Thanmayee (700776997)</a:t>
            </a:r>
            <a:endParaRPr lang="en-US" altLang="en-US" sz="2000" b="1" i="0" u="none" strike="noStrike" cap="none" dirty="0">
              <a:solidFill>
                <a:srgbClr val="1BB37E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704020202020204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en-US" altLang="en-US" sz="2000" b="1" i="0" u="none" strike="noStrike" cap="none" dirty="0">
                <a:solidFill>
                  <a:srgbClr val="1BB37E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/>
              </a:rPr>
              <a:t>D. Sri Kathyayini (700769996)</a:t>
            </a:r>
            <a:endParaRPr lang="en-US" altLang="en-US" sz="2000" b="1" i="0" u="none" strike="noStrike" cap="none" dirty="0">
              <a:solidFill>
                <a:srgbClr val="1BB37E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704020202020204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en-US" altLang="en-US" sz="2000" b="1" i="0" u="none" strike="noStrike" cap="none" dirty="0">
                <a:solidFill>
                  <a:srgbClr val="1BB37E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/>
              </a:rPr>
              <a:t>Himaja Arabati (700772489)</a:t>
            </a:r>
            <a:endParaRPr lang="en-US" altLang="en-US" sz="2000" b="1" i="0" u="none" strike="noStrike" cap="none" dirty="0">
              <a:solidFill>
                <a:srgbClr val="1BB37E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704020202020204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en-US" altLang="en-US" sz="2000" b="1" i="0" u="none" strike="noStrike" cap="none" dirty="0">
                <a:solidFill>
                  <a:srgbClr val="1BB37E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/>
              </a:rPr>
              <a:t>Hemalatha Mareedu (700771973)</a:t>
            </a:r>
            <a:endParaRPr lang="en-US" altLang="en-US" sz="2000" b="1" i="0" u="none" strike="noStrike" cap="none" dirty="0">
              <a:solidFill>
                <a:srgbClr val="1BB37E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704020202020204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en-US" altLang="en-US" sz="2000" b="1" i="0" u="none" strike="noStrike" cap="none" dirty="0">
                <a:solidFill>
                  <a:srgbClr val="1BB37E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/>
              </a:rPr>
              <a:t>K. Lakshmi Prasanna (700772585)</a:t>
            </a:r>
            <a:endParaRPr lang="en-US" altLang="en-US" sz="2000" b="1" i="0" u="none" strike="noStrike" cap="none" dirty="0">
              <a:solidFill>
                <a:srgbClr val="1BB37E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7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2"/>
          <p:cNvSpPr txBox="1"/>
          <p:nvPr/>
        </p:nvSpPr>
        <p:spPr>
          <a:xfrm>
            <a:off x="716059" y="298747"/>
            <a:ext cx="45579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704020202020204"/>
              <a:buNone/>
            </a:pPr>
            <a:r>
              <a:rPr lang="en-GB" sz="2400" b="1" i="0" u="none" strike="noStrike" cap="none" dirty="0">
                <a:solidFill>
                  <a:srgbClr val="1BB37E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/>
              </a:rPr>
              <a:t>Content</a:t>
            </a:r>
            <a:endParaRPr sz="2400" b="1" i="0" u="none" strike="noStrike" cap="none" dirty="0">
              <a:solidFill>
                <a:srgbClr val="1BB37E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704020202020204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600075" y="915670"/>
            <a:ext cx="3250565" cy="6147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AutoNum type="arabicPeriod"/>
            </a:pPr>
            <a:r>
              <a:rPr lang="en-US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alt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AutoNum type="arabicPeriod"/>
            </a:pPr>
            <a:r>
              <a:rPr lang="en-US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ML Workflow Overview</a:t>
            </a:r>
            <a:endParaRPr lang="en-US" alt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AutoNum type="arabicPeriod"/>
            </a:pPr>
            <a:r>
              <a:rPr lang="en-US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en-US" alt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AutoNum type="arabicPeriod"/>
            </a:pPr>
            <a:r>
              <a:rPr lang="en-US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  <a:endParaRPr lang="en-US" alt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AutoNum type="arabicPeriod"/>
            </a:pPr>
            <a:r>
              <a:rPr lang="en-US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  <a:endParaRPr lang="en-US" alt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AutoNum type="arabicPeriod"/>
            </a:pPr>
            <a:r>
              <a:rPr lang="en-US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Used</a:t>
            </a:r>
            <a:endParaRPr lang="en-US" alt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AutoNum type="arabicPeriod"/>
            </a:pPr>
            <a:r>
              <a:rPr lang="en-US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</a:t>
            </a:r>
            <a:endParaRPr lang="en-US" alt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AutoNum type="arabicPeriod"/>
            </a:pPr>
            <a:r>
              <a:rPr lang="en-US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Model &amp; Insights</a:t>
            </a:r>
            <a:endParaRPr lang="en-US" alt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AutoNum type="arabicPeriod"/>
            </a:pPr>
            <a:r>
              <a:rPr lang="en-US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Work</a:t>
            </a:r>
            <a:endParaRPr lang="en-US" alt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3"/>
          <p:cNvSpPr txBox="1"/>
          <p:nvPr/>
        </p:nvSpPr>
        <p:spPr>
          <a:xfrm>
            <a:off x="815050" y="533420"/>
            <a:ext cx="45579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704020202020204"/>
              <a:buNone/>
            </a:pPr>
            <a:r>
              <a:rPr lang="en-GB" sz="2800" b="1" i="0" u="none" strike="noStrike" cap="none" dirty="0">
                <a:solidFill>
                  <a:srgbClr val="1BB37E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/>
              </a:rPr>
              <a:t>Introduction</a:t>
            </a:r>
            <a:endParaRPr sz="2800" b="1" i="0" u="none" strike="noStrike" cap="none" dirty="0">
              <a:solidFill>
                <a:srgbClr val="1BB37E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704020202020204"/>
            </a:endParaRPr>
          </a:p>
        </p:txBody>
      </p:sp>
      <p:sp>
        <p:nvSpPr>
          <p:cNvPr id="69" name="Google Shape;69;p3"/>
          <p:cNvSpPr txBox="1"/>
          <p:nvPr/>
        </p:nvSpPr>
        <p:spPr>
          <a:xfrm>
            <a:off x="815050" y="1323900"/>
            <a:ext cx="4304700" cy="2551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indent="0">
              <a:buClr>
                <a:schemeClr val="bg1"/>
              </a:buClr>
              <a:buFont typeface="Arial" panose="020B0704020202020204" pitchFamily="34" charset="0"/>
              <a:buNone/>
            </a:pPr>
            <a:r>
              <a:rPr lang="en-US" altLang="en-US" sz="1100" b="0" i="0" u="none" strike="noStrike" cap="none" dirty="0">
                <a:solidFill>
                  <a:schemeClr val="bg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In this project, we analyzed how different types of company    spending influence overall profit. Using supervised ML models, we developed a system that predicts profit based on:</a:t>
            </a:r>
            <a:endParaRPr lang="en-US" altLang="en-US" sz="1100" b="0" i="0" u="none" strike="noStrike" cap="none" dirty="0">
              <a:solidFill>
                <a:schemeClr val="bg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  <a:p>
            <a:pPr marL="171450" indent="-171450">
              <a:buClr>
                <a:schemeClr val="bg1"/>
              </a:buClr>
              <a:buFont typeface="Arial" panose="020B0704020202020204" pitchFamily="34" charset="0"/>
              <a:buChar char="•"/>
            </a:pPr>
            <a:endParaRPr lang="en-US" altLang="en-US" sz="1100" b="0" i="0" u="none" strike="noStrike" cap="none" dirty="0">
              <a:solidFill>
                <a:schemeClr val="bg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  <a:p>
            <a:pPr marL="171450" indent="-171450">
              <a:buClr>
                <a:schemeClr val="bg1"/>
              </a:buClr>
              <a:buFont typeface="Arial" panose="020B0704020202020204" pitchFamily="34" charset="0"/>
              <a:buChar char="•"/>
            </a:pPr>
            <a:r>
              <a:rPr lang="en-US" altLang="en-US" sz="1100" b="0" i="0" u="none" strike="noStrike" cap="none" dirty="0">
                <a:solidFill>
                  <a:schemeClr val="bg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R&amp;D Spend</a:t>
            </a:r>
            <a:endParaRPr lang="en-US" altLang="en-US" sz="1100" b="0" i="0" u="none" strike="noStrike" cap="none" dirty="0">
              <a:solidFill>
                <a:schemeClr val="bg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  <a:p>
            <a:pPr marL="171450" indent="-171450">
              <a:buClr>
                <a:schemeClr val="bg1"/>
              </a:buClr>
              <a:buFont typeface="Arial" panose="020B0704020202020204" pitchFamily="34" charset="0"/>
              <a:buChar char="•"/>
            </a:pPr>
            <a:endParaRPr lang="en-US" altLang="en-US" sz="1100" b="0" i="0" u="none" strike="noStrike" cap="none" dirty="0">
              <a:solidFill>
                <a:schemeClr val="bg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  <a:p>
            <a:pPr marL="171450" indent="-171450">
              <a:buClr>
                <a:schemeClr val="bg1"/>
              </a:buClr>
              <a:buFont typeface="Arial" panose="020B0704020202020204" pitchFamily="34" charset="0"/>
              <a:buChar char="•"/>
            </a:pPr>
            <a:r>
              <a:rPr lang="en-US" altLang="en-US" sz="1100" b="0" i="0" u="none" strike="noStrike" cap="none" dirty="0">
                <a:solidFill>
                  <a:schemeClr val="bg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Administration Cost</a:t>
            </a:r>
            <a:endParaRPr lang="en-US" altLang="en-US" sz="1100" b="0" i="0" u="none" strike="noStrike" cap="none" dirty="0">
              <a:solidFill>
                <a:schemeClr val="bg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  <a:p>
            <a:pPr marL="171450" indent="-171450">
              <a:buClr>
                <a:schemeClr val="bg1"/>
              </a:buClr>
              <a:buFont typeface="Arial" panose="020B0704020202020204" pitchFamily="34" charset="0"/>
              <a:buChar char="•"/>
            </a:pPr>
            <a:endParaRPr lang="en-US" altLang="en-US" sz="1100" b="0" i="0" u="none" strike="noStrike" cap="none" dirty="0">
              <a:solidFill>
                <a:schemeClr val="bg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  <a:p>
            <a:pPr marL="171450" indent="-171450">
              <a:buClr>
                <a:schemeClr val="bg1"/>
              </a:buClr>
              <a:buFont typeface="Arial" panose="020B0704020202020204" pitchFamily="34" charset="0"/>
              <a:buChar char="•"/>
            </a:pPr>
            <a:r>
              <a:rPr lang="en-US" altLang="en-US" sz="1100" b="0" i="0" u="none" strike="noStrike" cap="none" dirty="0">
                <a:solidFill>
                  <a:schemeClr val="bg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Marketing Spend</a:t>
            </a:r>
            <a:endParaRPr lang="en-US" altLang="en-US" sz="1100" b="0" i="0" u="none" strike="noStrike" cap="none" dirty="0">
              <a:solidFill>
                <a:schemeClr val="bg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  <a:p>
            <a:pPr marL="171450" indent="-171450">
              <a:buClr>
                <a:schemeClr val="bg1"/>
              </a:buClr>
              <a:buFont typeface="Arial" panose="020B0704020202020204" pitchFamily="34" charset="0"/>
              <a:buChar char="•"/>
            </a:pPr>
            <a:endParaRPr lang="en-US" altLang="en-US" sz="1100" b="0" i="0" u="none" strike="noStrike" cap="none" dirty="0">
              <a:solidFill>
                <a:schemeClr val="bg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  <a:p>
            <a:pPr marL="171450" indent="-171450">
              <a:buClr>
                <a:schemeClr val="bg1"/>
              </a:buClr>
              <a:buFont typeface="Arial" panose="020B0704020202020204" pitchFamily="34" charset="0"/>
              <a:buChar char="•"/>
            </a:pPr>
            <a:r>
              <a:rPr lang="en-US" altLang="en-US" sz="1100" b="0" i="0" u="none" strike="noStrike" cap="none" dirty="0">
                <a:solidFill>
                  <a:schemeClr val="bg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State (categorical)</a:t>
            </a:r>
            <a:endParaRPr lang="en-US" altLang="en-US" sz="1100" b="0" i="0" u="none" strike="noStrike" cap="none" dirty="0">
              <a:solidFill>
                <a:schemeClr val="bg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  <a:p>
            <a:pPr marL="171450" indent="-171450">
              <a:buClr>
                <a:schemeClr val="bg1"/>
              </a:buClr>
              <a:buFont typeface="Arial" panose="020B0704020202020204" pitchFamily="34" charset="0"/>
              <a:buChar char="•"/>
            </a:pPr>
            <a:endParaRPr lang="en-US" altLang="en-US" sz="1100" b="0" i="0" u="none" strike="noStrike" cap="none" dirty="0">
              <a:solidFill>
                <a:schemeClr val="bg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  <a:p>
            <a:pPr marL="0" indent="0">
              <a:buClr>
                <a:schemeClr val="bg1"/>
              </a:buClr>
              <a:buFont typeface="Arial" panose="020B0704020202020204" pitchFamily="34" charset="0"/>
              <a:buNone/>
            </a:pPr>
            <a:r>
              <a:rPr lang="en-US" altLang="en-US" sz="1100" b="0" i="0" u="none" strike="noStrike" cap="none" dirty="0">
                <a:solidFill>
                  <a:schemeClr val="bg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The workflow includes preprocessing, feature engineering, model training, evaluation, and business insight generation.</a:t>
            </a:r>
            <a:endParaRPr lang="en-US" altLang="en-US" sz="1100" b="0" i="0" u="none" strike="noStrike" cap="none" dirty="0">
              <a:solidFill>
                <a:schemeClr val="bg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4"/>
          <p:cNvSpPr txBox="1"/>
          <p:nvPr/>
        </p:nvSpPr>
        <p:spPr>
          <a:xfrm>
            <a:off x="770887" y="270552"/>
            <a:ext cx="5617033" cy="612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704020202020204"/>
              <a:buNone/>
            </a:pPr>
            <a:r>
              <a:rPr lang="en-US" altLang="en-US" sz="2800" b="1" i="0" u="none" strike="noStrike" cap="none" dirty="0">
                <a:solidFill>
                  <a:srgbClr val="1BB37E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/>
              </a:rPr>
              <a:t>Dataset &amp; ML Workflow Overview</a:t>
            </a:r>
            <a:endParaRPr lang="en-US" altLang="en-US" sz="2800" b="1" i="0" u="none" strike="noStrike" cap="none" dirty="0">
              <a:solidFill>
                <a:srgbClr val="1BB37E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704020202020204"/>
            </a:endParaRPr>
          </a:p>
        </p:txBody>
      </p:sp>
      <p:sp>
        <p:nvSpPr>
          <p:cNvPr id="76" name="Google Shape;76;p4"/>
          <p:cNvSpPr txBox="1"/>
          <p:nvPr/>
        </p:nvSpPr>
        <p:spPr>
          <a:xfrm>
            <a:off x="770888" y="1006614"/>
            <a:ext cx="6821100" cy="3443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altLang="en-US" sz="1800" dirty="0">
                <a:solidFill>
                  <a:schemeClr val="lt2"/>
                </a:solidFill>
              </a:rPr>
              <a:t>Dataset:</a:t>
            </a:r>
            <a:endParaRPr lang="en-US" altLang="en-US" sz="1800" dirty="0">
              <a:solidFill>
                <a:schemeClr val="lt2"/>
              </a:solidFill>
            </a:endParaRPr>
          </a:p>
          <a:p>
            <a:r>
              <a:rPr lang="en-US" altLang="en-US" sz="1100" dirty="0">
                <a:solidFill>
                  <a:schemeClr val="lt2"/>
                </a:solidFill>
              </a:rPr>
              <a:t>50_Startups dataset containing spending statistics &amp; profit values.</a:t>
            </a:r>
            <a:endParaRPr lang="en-US" altLang="en-US" sz="1100" dirty="0">
              <a:solidFill>
                <a:schemeClr val="lt2"/>
              </a:solidFill>
            </a:endParaRPr>
          </a:p>
          <a:p>
            <a:endParaRPr lang="en-US" altLang="en-US" sz="1100" dirty="0">
              <a:solidFill>
                <a:schemeClr val="lt2"/>
              </a:solidFill>
            </a:endParaRPr>
          </a:p>
          <a:p>
            <a:r>
              <a:rPr lang="en-US" altLang="en-US" sz="1800" dirty="0">
                <a:solidFill>
                  <a:schemeClr val="lt2"/>
                </a:solidFill>
              </a:rPr>
              <a:t>ML Workflow:</a:t>
            </a:r>
            <a:endParaRPr lang="en-US" altLang="en-US" sz="1800" dirty="0">
              <a:solidFill>
                <a:schemeClr val="lt2"/>
              </a:solidFill>
            </a:endParaRPr>
          </a:p>
          <a:p>
            <a:endParaRPr lang="en-US" altLang="en-US" sz="1100" dirty="0">
              <a:solidFill>
                <a:schemeClr val="lt2"/>
              </a:solidFill>
            </a:endParaRPr>
          </a:p>
          <a:p>
            <a:pPr marL="0" indent="0">
              <a:buNone/>
            </a:pPr>
            <a:r>
              <a:rPr lang="en-US" altLang="en-US" sz="1100" dirty="0">
                <a:solidFill>
                  <a:schemeClr val="lt2"/>
                </a:solidFill>
              </a:rPr>
              <a:t>1. Load &amp; clean dataset</a:t>
            </a:r>
            <a:endParaRPr lang="en-US" altLang="en-US" sz="1100" dirty="0">
              <a:solidFill>
                <a:schemeClr val="lt2"/>
              </a:solidFill>
            </a:endParaRPr>
          </a:p>
          <a:p>
            <a:pPr marL="228600" indent="-228600">
              <a:buAutoNum type="arabicPeriod"/>
            </a:pPr>
            <a:endParaRPr lang="en-US" altLang="en-US" sz="1100" dirty="0">
              <a:solidFill>
                <a:schemeClr val="lt2"/>
              </a:solidFill>
            </a:endParaRPr>
          </a:p>
          <a:p>
            <a:pPr marL="0" indent="0">
              <a:buNone/>
            </a:pPr>
            <a:r>
              <a:rPr lang="en-US" altLang="en-US" sz="1100" dirty="0">
                <a:solidFill>
                  <a:schemeClr val="lt2"/>
                </a:solidFill>
              </a:rPr>
              <a:t>2. Encode categorical features</a:t>
            </a:r>
            <a:endParaRPr lang="en-US" altLang="en-US" sz="1100" dirty="0">
              <a:solidFill>
                <a:schemeClr val="lt2"/>
              </a:solidFill>
            </a:endParaRPr>
          </a:p>
          <a:p>
            <a:pPr marL="0" indent="0">
              <a:buNone/>
            </a:pPr>
            <a:endParaRPr lang="en-US" altLang="en-US" sz="1100" dirty="0">
              <a:solidFill>
                <a:schemeClr val="lt2"/>
              </a:solidFill>
            </a:endParaRPr>
          </a:p>
          <a:p>
            <a:pPr marL="0" indent="0">
              <a:buNone/>
            </a:pPr>
            <a:r>
              <a:rPr lang="en-US" altLang="en-US" sz="1100" dirty="0">
                <a:solidFill>
                  <a:schemeClr val="lt2"/>
                </a:solidFill>
              </a:rPr>
              <a:t>3. Feature scaling</a:t>
            </a:r>
            <a:endParaRPr lang="en-US" altLang="en-US" sz="1100" dirty="0">
              <a:solidFill>
                <a:schemeClr val="lt2"/>
              </a:solidFill>
            </a:endParaRPr>
          </a:p>
          <a:p>
            <a:pPr marL="228600" indent="-228600">
              <a:buAutoNum type="arabicPeriod"/>
            </a:pPr>
            <a:endParaRPr lang="en-US" altLang="en-US" sz="1100" dirty="0">
              <a:solidFill>
                <a:schemeClr val="lt2"/>
              </a:solidFill>
            </a:endParaRPr>
          </a:p>
          <a:p>
            <a:pPr marL="0" indent="0">
              <a:buNone/>
            </a:pPr>
            <a:r>
              <a:rPr lang="en-US" altLang="en-US" sz="1100" dirty="0">
                <a:solidFill>
                  <a:schemeClr val="lt2"/>
                </a:solidFill>
              </a:rPr>
              <a:t>4. Exploratory Data Analysis</a:t>
            </a:r>
            <a:endParaRPr lang="en-US" altLang="en-US" sz="1100" dirty="0">
              <a:solidFill>
                <a:schemeClr val="lt2"/>
              </a:solidFill>
            </a:endParaRPr>
          </a:p>
          <a:p>
            <a:pPr marL="228600" indent="-228600">
              <a:buAutoNum type="arabicPeriod"/>
            </a:pPr>
            <a:endParaRPr lang="en-US" altLang="en-US" sz="1100" dirty="0">
              <a:solidFill>
                <a:schemeClr val="lt2"/>
              </a:solidFill>
            </a:endParaRPr>
          </a:p>
          <a:p>
            <a:pPr marL="0" indent="0">
              <a:buNone/>
            </a:pPr>
            <a:r>
              <a:rPr lang="en-US" altLang="en-US" sz="1100" dirty="0">
                <a:solidFill>
                  <a:schemeClr val="lt2"/>
                </a:solidFill>
              </a:rPr>
              <a:t>5. Build regression models</a:t>
            </a:r>
            <a:endParaRPr lang="en-US" altLang="en-US" sz="1100" dirty="0">
              <a:solidFill>
                <a:schemeClr val="lt2"/>
              </a:solidFill>
            </a:endParaRPr>
          </a:p>
          <a:p>
            <a:pPr marL="228600" indent="-228600">
              <a:buAutoNum type="arabicPeriod"/>
            </a:pPr>
            <a:endParaRPr lang="en-US" altLang="en-US" sz="1100" dirty="0">
              <a:solidFill>
                <a:schemeClr val="lt2"/>
              </a:solidFill>
            </a:endParaRPr>
          </a:p>
          <a:p>
            <a:pPr marL="0" indent="0">
              <a:buNone/>
            </a:pPr>
            <a:r>
              <a:rPr lang="en-US" altLang="en-US" sz="1100" dirty="0">
                <a:solidFill>
                  <a:schemeClr val="lt2"/>
                </a:solidFill>
              </a:rPr>
              <a:t>6. Evaluate model performance</a:t>
            </a:r>
            <a:endParaRPr lang="en-US" altLang="en-US" sz="1100" dirty="0">
              <a:solidFill>
                <a:schemeClr val="lt2"/>
              </a:solidFill>
            </a:endParaRPr>
          </a:p>
          <a:p>
            <a:pPr marL="228600" indent="-228600">
              <a:buAutoNum type="arabicPeriod"/>
            </a:pPr>
            <a:endParaRPr lang="en-US" altLang="en-US" sz="1100" dirty="0">
              <a:solidFill>
                <a:schemeClr val="lt2"/>
              </a:solidFill>
            </a:endParaRPr>
          </a:p>
          <a:p>
            <a:pPr marL="0" indent="0">
              <a:buNone/>
            </a:pPr>
            <a:r>
              <a:rPr lang="en-US" altLang="en-US" sz="1100" dirty="0">
                <a:solidFill>
                  <a:schemeClr val="lt2"/>
                </a:solidFill>
              </a:rPr>
              <a:t>7. Identify best model &amp; provide insights</a:t>
            </a:r>
            <a:endParaRPr lang="en-US" altLang="en-US" sz="1100" dirty="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5"/>
          <p:cNvSpPr txBox="1"/>
          <p:nvPr/>
        </p:nvSpPr>
        <p:spPr>
          <a:xfrm>
            <a:off x="783399" y="346800"/>
            <a:ext cx="6267783" cy="55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704020202020204"/>
              <a:buNone/>
            </a:pPr>
            <a:r>
              <a:rPr lang="en-US" altLang="en-US" sz="2400" b="1" i="0" u="none" strike="noStrike" cap="none" dirty="0">
                <a:solidFill>
                  <a:srgbClr val="1BB37E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/>
              </a:rPr>
              <a:t>Data Preprocessing</a:t>
            </a:r>
            <a:endParaRPr lang="en-US" altLang="en-US" sz="2400" b="1" i="0" u="none" strike="noStrike" cap="none" dirty="0">
              <a:solidFill>
                <a:srgbClr val="1BB37E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704020202020204"/>
            </a:endParaRPr>
          </a:p>
        </p:txBody>
      </p:sp>
      <p:sp>
        <p:nvSpPr>
          <p:cNvPr id="83" name="Google Shape;83;p5"/>
          <p:cNvSpPr txBox="1"/>
          <p:nvPr/>
        </p:nvSpPr>
        <p:spPr>
          <a:xfrm>
            <a:off x="783590" y="811530"/>
            <a:ext cx="5250180" cy="3623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altLang="en-US" sz="1100" dirty="0">
                <a:solidFill>
                  <a:schemeClr val="lt2"/>
                </a:solidFill>
              </a:rPr>
              <a:t>a. Data Cleaning</a:t>
            </a:r>
            <a:endParaRPr lang="en-US" altLang="en-US" sz="1100" dirty="0">
              <a:solidFill>
                <a:schemeClr val="lt2"/>
              </a:solidFill>
            </a:endParaRPr>
          </a:p>
          <a:p>
            <a:endParaRPr lang="en-US" altLang="en-US" sz="1100" dirty="0">
              <a:solidFill>
                <a:schemeClr val="lt2"/>
              </a:solidFill>
            </a:endParaRPr>
          </a:p>
          <a:p>
            <a:r>
              <a:rPr lang="en-US" altLang="en-US" sz="1100" dirty="0">
                <a:solidFill>
                  <a:schemeClr val="lt2"/>
                </a:solidFill>
              </a:rPr>
              <a:t>         No missing values</a:t>
            </a:r>
            <a:endParaRPr lang="en-US" altLang="en-US" sz="1100" dirty="0">
              <a:solidFill>
                <a:schemeClr val="lt2"/>
              </a:solidFill>
            </a:endParaRPr>
          </a:p>
          <a:p>
            <a:endParaRPr lang="en-US" altLang="en-US" sz="1100" dirty="0">
              <a:solidFill>
                <a:schemeClr val="lt2"/>
              </a:solidFill>
            </a:endParaRPr>
          </a:p>
          <a:p>
            <a:r>
              <a:rPr lang="en-US" altLang="en-US" sz="1100" dirty="0">
                <a:solidFill>
                  <a:schemeClr val="lt2"/>
                </a:solidFill>
              </a:rPr>
              <a:t>         No duplicates</a:t>
            </a:r>
            <a:endParaRPr lang="en-US" altLang="en-US" sz="1100" dirty="0">
              <a:solidFill>
                <a:schemeClr val="lt2"/>
              </a:solidFill>
            </a:endParaRPr>
          </a:p>
          <a:p>
            <a:endParaRPr lang="en-US" altLang="en-US" sz="1100" dirty="0">
              <a:solidFill>
                <a:schemeClr val="lt2"/>
              </a:solidFill>
            </a:endParaRPr>
          </a:p>
          <a:p>
            <a:r>
              <a:rPr lang="en-US" altLang="en-US" sz="1100" dirty="0">
                <a:solidFill>
                  <a:schemeClr val="lt2"/>
                </a:solidFill>
              </a:rPr>
              <a:t>         Verified correct data types</a:t>
            </a:r>
            <a:endParaRPr lang="en-US" altLang="en-US" sz="1100" dirty="0">
              <a:solidFill>
                <a:schemeClr val="lt2"/>
              </a:solidFill>
            </a:endParaRPr>
          </a:p>
          <a:p>
            <a:endParaRPr lang="en-US" altLang="en-US" sz="1100" dirty="0">
              <a:solidFill>
                <a:schemeClr val="lt2"/>
              </a:solidFill>
            </a:endParaRPr>
          </a:p>
          <a:p>
            <a:r>
              <a:rPr lang="en-US" altLang="en-US" sz="1100" dirty="0">
                <a:solidFill>
                  <a:schemeClr val="lt2"/>
                </a:solidFill>
              </a:rPr>
              <a:t>b. Encoding</a:t>
            </a:r>
            <a:endParaRPr lang="en-US" altLang="en-US" sz="1100" dirty="0">
              <a:solidFill>
                <a:schemeClr val="lt2"/>
              </a:solidFill>
            </a:endParaRPr>
          </a:p>
          <a:p>
            <a:endParaRPr lang="en-US" altLang="en-US" sz="1100" dirty="0">
              <a:solidFill>
                <a:schemeClr val="lt2"/>
              </a:solidFill>
            </a:endParaRPr>
          </a:p>
          <a:p>
            <a:r>
              <a:rPr lang="en-US" altLang="en-US" sz="1100" dirty="0">
                <a:solidFill>
                  <a:schemeClr val="lt2"/>
                </a:solidFill>
              </a:rPr>
              <a:t>         One-Hot Encoding used for “State” column</a:t>
            </a:r>
            <a:endParaRPr lang="en-US" altLang="en-US" sz="1100" dirty="0">
              <a:solidFill>
                <a:schemeClr val="lt2"/>
              </a:solidFill>
            </a:endParaRPr>
          </a:p>
          <a:p>
            <a:endParaRPr lang="en-US" altLang="en-US" sz="1100" dirty="0">
              <a:solidFill>
                <a:schemeClr val="lt2"/>
              </a:solidFill>
            </a:endParaRPr>
          </a:p>
          <a:p>
            <a:r>
              <a:rPr lang="en-US" altLang="en-US" sz="1100" dirty="0">
                <a:solidFill>
                  <a:schemeClr val="lt2"/>
                </a:solidFill>
              </a:rPr>
              <a:t>c. Feature Scaling</a:t>
            </a:r>
            <a:endParaRPr lang="en-US" altLang="en-US" sz="1100" dirty="0">
              <a:solidFill>
                <a:schemeClr val="lt2"/>
              </a:solidFill>
            </a:endParaRPr>
          </a:p>
          <a:p>
            <a:endParaRPr lang="en-US" altLang="en-US" sz="1100" dirty="0">
              <a:solidFill>
                <a:schemeClr val="lt2"/>
              </a:solidFill>
            </a:endParaRPr>
          </a:p>
          <a:p>
            <a:r>
              <a:rPr lang="en-US" altLang="en-US" sz="1100" dirty="0">
                <a:solidFill>
                  <a:schemeClr val="lt2"/>
                </a:solidFill>
              </a:rPr>
              <a:t>         StandardScaler applied to numerical columns</a:t>
            </a:r>
            <a:endParaRPr lang="en-US" altLang="en-US" sz="1100" dirty="0">
              <a:solidFill>
                <a:schemeClr val="lt2"/>
              </a:solidFill>
            </a:endParaRPr>
          </a:p>
          <a:p>
            <a:endParaRPr lang="en-US" altLang="en-US" sz="1100" dirty="0">
              <a:solidFill>
                <a:schemeClr val="lt2"/>
              </a:solidFill>
            </a:endParaRPr>
          </a:p>
          <a:p>
            <a:r>
              <a:rPr lang="en-US" altLang="en-US" sz="1100" dirty="0">
                <a:solidFill>
                  <a:schemeClr val="lt2"/>
                </a:solidFill>
              </a:rPr>
              <a:t>         Important for Ridge &amp; Lasso models</a:t>
            </a:r>
            <a:endParaRPr lang="en-US" altLang="en-US" sz="1100" dirty="0">
              <a:solidFill>
                <a:schemeClr val="lt2"/>
              </a:solidFill>
            </a:endParaRPr>
          </a:p>
          <a:p>
            <a:endParaRPr lang="en-US" altLang="en-US" sz="1100" dirty="0">
              <a:solidFill>
                <a:schemeClr val="lt2"/>
              </a:solidFill>
            </a:endParaRPr>
          </a:p>
          <a:p>
            <a:r>
              <a:rPr lang="en-US" altLang="en-US" sz="1100" dirty="0">
                <a:solidFill>
                  <a:schemeClr val="lt2"/>
                </a:solidFill>
              </a:rPr>
              <a:t>d. Multicollinearity Check (VIF)</a:t>
            </a:r>
            <a:endParaRPr lang="en-US" altLang="en-US" sz="1100" dirty="0">
              <a:solidFill>
                <a:schemeClr val="lt2"/>
              </a:solidFill>
            </a:endParaRPr>
          </a:p>
          <a:p>
            <a:endParaRPr lang="en-US" altLang="en-US" sz="1100" dirty="0">
              <a:solidFill>
                <a:schemeClr val="lt2"/>
              </a:solidFill>
            </a:endParaRPr>
          </a:p>
          <a:p>
            <a:r>
              <a:rPr lang="en-US" altLang="en-US" sz="1100" dirty="0">
                <a:solidFill>
                  <a:schemeClr val="lt2"/>
                </a:solidFill>
              </a:rPr>
              <a:t>         High correlation between R&amp;D Spend &amp; Marketing Spend observed</a:t>
            </a:r>
            <a:endParaRPr lang="en-US" altLang="en-US" sz="1100" dirty="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6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6"/>
          <p:cNvSpPr txBox="1"/>
          <p:nvPr/>
        </p:nvSpPr>
        <p:spPr>
          <a:xfrm>
            <a:off x="776960" y="429137"/>
            <a:ext cx="6306421" cy="55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704020202020204"/>
              <a:buNone/>
            </a:pPr>
            <a:r>
              <a:rPr lang="en-US" altLang="en-US" sz="2400" b="1" i="0" u="none" strike="noStrike" cap="none" dirty="0">
                <a:solidFill>
                  <a:srgbClr val="1BB37E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/>
              </a:rPr>
              <a:t>Exploratory Data Analysis</a:t>
            </a:r>
            <a:endParaRPr lang="en-US" altLang="en-US" sz="2400" b="1" i="0" u="none" strike="noStrike" cap="none" dirty="0">
              <a:solidFill>
                <a:srgbClr val="1BB37E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704020202020204"/>
            </a:endParaRPr>
          </a:p>
        </p:txBody>
      </p:sp>
      <p:sp>
        <p:nvSpPr>
          <p:cNvPr id="90" name="Google Shape;90;p6"/>
          <p:cNvSpPr txBox="1"/>
          <p:nvPr/>
        </p:nvSpPr>
        <p:spPr>
          <a:xfrm>
            <a:off x="3047151" y="1073901"/>
            <a:ext cx="4273200" cy="3613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altLang="en-US" sz="1800" dirty="0">
                <a:solidFill>
                  <a:schemeClr val="lt2"/>
                </a:solidFill>
              </a:rPr>
              <a:t>What we analyzed:</a:t>
            </a:r>
            <a:endParaRPr lang="en-US" altLang="en-US" sz="1800" dirty="0">
              <a:solidFill>
                <a:schemeClr val="lt2"/>
              </a:solidFill>
            </a:endParaRPr>
          </a:p>
          <a:p>
            <a:endParaRPr lang="en-US" altLang="en-US" sz="1100" dirty="0">
              <a:solidFill>
                <a:schemeClr val="lt2"/>
              </a:solidFill>
            </a:endParaRPr>
          </a:p>
          <a:p>
            <a:r>
              <a:rPr lang="en-US" altLang="en-US" sz="1100" dirty="0">
                <a:solidFill>
                  <a:schemeClr val="lt2"/>
                </a:solidFill>
              </a:rPr>
              <a:t>1. Correlation matrix</a:t>
            </a:r>
            <a:endParaRPr lang="en-US" altLang="en-US" sz="1100" dirty="0">
              <a:solidFill>
                <a:schemeClr val="lt2"/>
              </a:solidFill>
            </a:endParaRPr>
          </a:p>
          <a:p>
            <a:endParaRPr lang="en-US" altLang="en-US" sz="1100" dirty="0">
              <a:solidFill>
                <a:schemeClr val="lt2"/>
              </a:solidFill>
            </a:endParaRPr>
          </a:p>
          <a:p>
            <a:r>
              <a:rPr lang="en-US" altLang="en-US" sz="1100" dirty="0">
                <a:solidFill>
                  <a:schemeClr val="lt2"/>
                </a:solidFill>
              </a:rPr>
              <a:t>2. Heatmaps</a:t>
            </a:r>
            <a:endParaRPr lang="en-US" altLang="en-US" sz="1100" dirty="0">
              <a:solidFill>
                <a:schemeClr val="lt2"/>
              </a:solidFill>
            </a:endParaRPr>
          </a:p>
          <a:p>
            <a:endParaRPr lang="en-US" altLang="en-US" sz="1100" dirty="0">
              <a:solidFill>
                <a:schemeClr val="lt2"/>
              </a:solidFill>
            </a:endParaRPr>
          </a:p>
          <a:p>
            <a:r>
              <a:rPr lang="en-US" altLang="en-US" sz="1100" dirty="0">
                <a:solidFill>
                  <a:schemeClr val="lt2"/>
                </a:solidFill>
              </a:rPr>
              <a:t>3. Pairplots</a:t>
            </a:r>
            <a:endParaRPr lang="en-US" altLang="en-US" sz="1100" dirty="0">
              <a:solidFill>
                <a:schemeClr val="lt2"/>
              </a:solidFill>
            </a:endParaRPr>
          </a:p>
          <a:p>
            <a:endParaRPr lang="en-US" altLang="en-US" sz="1100" dirty="0">
              <a:solidFill>
                <a:schemeClr val="lt2"/>
              </a:solidFill>
            </a:endParaRPr>
          </a:p>
          <a:p>
            <a:r>
              <a:rPr lang="en-US" altLang="en-US" sz="1100" dirty="0">
                <a:solidFill>
                  <a:schemeClr val="lt2"/>
                </a:solidFill>
              </a:rPr>
              <a:t>4. Scatter plots</a:t>
            </a:r>
            <a:endParaRPr lang="en-US" altLang="en-US" sz="1100" dirty="0">
              <a:solidFill>
                <a:schemeClr val="lt2"/>
              </a:solidFill>
            </a:endParaRPr>
          </a:p>
          <a:p>
            <a:endParaRPr lang="en-US" altLang="en-US" sz="1100" dirty="0">
              <a:solidFill>
                <a:schemeClr val="lt2"/>
              </a:solidFill>
            </a:endParaRPr>
          </a:p>
          <a:p>
            <a:r>
              <a:rPr lang="en-US" altLang="en-US" sz="1100" dirty="0">
                <a:solidFill>
                  <a:schemeClr val="lt2"/>
                </a:solidFill>
              </a:rPr>
              <a:t>5. Outlier checks</a:t>
            </a:r>
            <a:endParaRPr lang="en-US" altLang="en-US" sz="1100" dirty="0">
              <a:solidFill>
                <a:schemeClr val="lt2"/>
              </a:solidFill>
            </a:endParaRPr>
          </a:p>
          <a:p>
            <a:endParaRPr lang="en-US" altLang="en-US" sz="1100" dirty="0">
              <a:solidFill>
                <a:schemeClr val="lt2"/>
              </a:solidFill>
            </a:endParaRPr>
          </a:p>
          <a:p>
            <a:r>
              <a:rPr lang="en-US" altLang="en-US" sz="1800" dirty="0">
                <a:solidFill>
                  <a:schemeClr val="lt2"/>
                </a:solidFill>
              </a:rPr>
              <a:t>Key Insights:</a:t>
            </a:r>
            <a:endParaRPr lang="en-US" altLang="en-US" sz="1800" dirty="0">
              <a:solidFill>
                <a:schemeClr val="lt2"/>
              </a:solidFill>
            </a:endParaRPr>
          </a:p>
          <a:p>
            <a:endParaRPr lang="en-US" altLang="en-US" sz="1100" dirty="0">
              <a:solidFill>
                <a:schemeClr val="lt2"/>
              </a:solidFill>
            </a:endParaRPr>
          </a:p>
          <a:p>
            <a:r>
              <a:rPr lang="en-US" altLang="en-US" sz="1100" dirty="0">
                <a:solidFill>
                  <a:schemeClr val="lt2"/>
                </a:solidFill>
              </a:rPr>
              <a:t>1. R&amp;D Spend → strongest positive influence on profit</a:t>
            </a:r>
            <a:endParaRPr lang="en-US" altLang="en-US" sz="1100" dirty="0">
              <a:solidFill>
                <a:schemeClr val="lt2"/>
              </a:solidFill>
            </a:endParaRPr>
          </a:p>
          <a:p>
            <a:endParaRPr lang="en-US" altLang="en-US" sz="1100" dirty="0">
              <a:solidFill>
                <a:schemeClr val="lt2"/>
              </a:solidFill>
            </a:endParaRPr>
          </a:p>
          <a:p>
            <a:r>
              <a:rPr lang="en-US" altLang="en-US" sz="1100" dirty="0">
                <a:solidFill>
                  <a:schemeClr val="lt2"/>
                </a:solidFill>
              </a:rPr>
              <a:t>2. Marketing Spend → moderate influence</a:t>
            </a:r>
            <a:endParaRPr lang="en-US" altLang="en-US" sz="1100" dirty="0">
              <a:solidFill>
                <a:schemeClr val="lt2"/>
              </a:solidFill>
            </a:endParaRPr>
          </a:p>
          <a:p>
            <a:endParaRPr lang="en-US" altLang="en-US" sz="1100" dirty="0">
              <a:solidFill>
                <a:schemeClr val="lt2"/>
              </a:solidFill>
            </a:endParaRPr>
          </a:p>
          <a:p>
            <a:r>
              <a:rPr lang="en-US" altLang="en-US" sz="1100" dirty="0">
                <a:solidFill>
                  <a:schemeClr val="lt2"/>
                </a:solidFill>
              </a:rPr>
              <a:t>3. Administration Cost → weak / no influence</a:t>
            </a:r>
            <a:endParaRPr lang="en-US" altLang="en-US" sz="1100" dirty="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7"/>
          <p:cNvSpPr txBox="1"/>
          <p:nvPr/>
        </p:nvSpPr>
        <p:spPr>
          <a:xfrm>
            <a:off x="830875" y="541412"/>
            <a:ext cx="4557900" cy="55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704020202020204"/>
              <a:buNone/>
            </a:pPr>
            <a:r>
              <a:rPr lang="en-GB" sz="2400" b="1" i="0" u="none" strike="noStrike" cap="none" dirty="0">
                <a:solidFill>
                  <a:srgbClr val="1BB37E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/>
              </a:rPr>
              <a:t>Feature En</a:t>
            </a:r>
            <a:r>
              <a:rPr lang="en-GB" sz="2400" b="1" dirty="0">
                <a:solidFill>
                  <a:srgbClr val="1BB3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gineering:</a:t>
            </a:r>
            <a:endParaRPr sz="2400" b="1" i="0" u="none" strike="noStrike" cap="none" dirty="0">
              <a:solidFill>
                <a:srgbClr val="1BB37E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704020202020204"/>
            </a:endParaRPr>
          </a:p>
        </p:txBody>
      </p:sp>
      <p:sp>
        <p:nvSpPr>
          <p:cNvPr id="97" name="Google Shape;97;p7"/>
          <p:cNvSpPr txBox="1"/>
          <p:nvPr/>
        </p:nvSpPr>
        <p:spPr>
          <a:xfrm>
            <a:off x="830875" y="1095380"/>
            <a:ext cx="5692274" cy="242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buClr>
                <a:schemeClr val="bg1"/>
              </a:buClr>
            </a:pPr>
            <a:r>
              <a:rPr lang="en-US" altLang="en-US" sz="1800" dirty="0">
                <a:solidFill>
                  <a:schemeClr val="lt2"/>
                </a:solidFill>
              </a:rPr>
              <a:t>What We Did:</a:t>
            </a:r>
            <a:endParaRPr lang="en-US" altLang="en-US" sz="1800" dirty="0">
              <a:solidFill>
                <a:schemeClr val="lt2"/>
              </a:solidFill>
            </a:endParaRPr>
          </a:p>
          <a:p>
            <a:pPr>
              <a:buClr>
                <a:schemeClr val="bg1"/>
              </a:buClr>
            </a:pPr>
            <a:endParaRPr lang="en-US" altLang="en-US" sz="1100" dirty="0">
              <a:solidFill>
                <a:schemeClr val="lt2"/>
              </a:solidFill>
            </a:endParaRPr>
          </a:p>
          <a:p>
            <a:pPr>
              <a:buClr>
                <a:schemeClr val="bg1"/>
              </a:buClr>
            </a:pPr>
            <a:r>
              <a:rPr lang="en-US" altLang="en-US" sz="1100" dirty="0">
                <a:solidFill>
                  <a:schemeClr val="lt2"/>
                </a:solidFill>
              </a:rPr>
              <a:t>1. Selected relevant features</a:t>
            </a:r>
            <a:endParaRPr lang="en-US" altLang="en-US" sz="1100" dirty="0">
              <a:solidFill>
                <a:schemeClr val="lt2"/>
              </a:solidFill>
            </a:endParaRPr>
          </a:p>
          <a:p>
            <a:pPr>
              <a:buClr>
                <a:schemeClr val="bg1"/>
              </a:buClr>
            </a:pPr>
            <a:endParaRPr lang="en-US" altLang="en-US" sz="1100" dirty="0">
              <a:solidFill>
                <a:schemeClr val="lt2"/>
              </a:solidFill>
            </a:endParaRPr>
          </a:p>
          <a:p>
            <a:pPr>
              <a:buClr>
                <a:schemeClr val="bg1"/>
              </a:buClr>
            </a:pPr>
            <a:r>
              <a:rPr lang="en-US" altLang="en-US" sz="1100" dirty="0">
                <a:solidFill>
                  <a:schemeClr val="lt2"/>
                </a:solidFill>
              </a:rPr>
              <a:t>2. Verified correlation strength</a:t>
            </a:r>
            <a:endParaRPr lang="en-US" altLang="en-US" sz="1100" dirty="0">
              <a:solidFill>
                <a:schemeClr val="lt2"/>
              </a:solidFill>
            </a:endParaRPr>
          </a:p>
          <a:p>
            <a:pPr>
              <a:buClr>
                <a:schemeClr val="bg1"/>
              </a:buClr>
            </a:pPr>
            <a:endParaRPr lang="en-US" altLang="en-US" sz="1100" dirty="0">
              <a:solidFill>
                <a:schemeClr val="lt2"/>
              </a:solidFill>
            </a:endParaRPr>
          </a:p>
          <a:p>
            <a:pPr>
              <a:buClr>
                <a:schemeClr val="bg1"/>
              </a:buClr>
            </a:pPr>
            <a:r>
              <a:rPr lang="en-US" altLang="en-US" sz="1100" dirty="0">
                <a:solidFill>
                  <a:schemeClr val="lt2"/>
                </a:solidFill>
              </a:rPr>
              <a:t>3. Examined interaction between variables</a:t>
            </a:r>
            <a:endParaRPr lang="en-US" altLang="en-US" sz="1100" dirty="0">
              <a:solidFill>
                <a:schemeClr val="lt2"/>
              </a:solidFill>
            </a:endParaRPr>
          </a:p>
          <a:p>
            <a:pPr>
              <a:buClr>
                <a:schemeClr val="bg1"/>
              </a:buClr>
            </a:pPr>
            <a:endParaRPr lang="en-US" altLang="en-US" sz="1100" dirty="0">
              <a:solidFill>
                <a:schemeClr val="lt2"/>
              </a:solidFill>
            </a:endParaRPr>
          </a:p>
          <a:p>
            <a:pPr>
              <a:buClr>
                <a:schemeClr val="bg1"/>
              </a:buClr>
            </a:pPr>
            <a:r>
              <a:rPr lang="en-US" altLang="en-US" sz="1100" dirty="0">
                <a:solidFill>
                  <a:schemeClr val="lt2"/>
                </a:solidFill>
              </a:rPr>
              <a:t>4. Retained all features since each contributes meaningfully</a:t>
            </a:r>
            <a:endParaRPr lang="en-US" altLang="en-US" sz="1100" dirty="0">
              <a:solidFill>
                <a:schemeClr val="lt2"/>
              </a:solidFill>
            </a:endParaRPr>
          </a:p>
          <a:p>
            <a:pPr>
              <a:buClr>
                <a:schemeClr val="bg1"/>
              </a:buClr>
            </a:pPr>
            <a:endParaRPr lang="en-US" altLang="en-US" sz="1100" dirty="0">
              <a:solidFill>
                <a:schemeClr val="lt2"/>
              </a:solidFill>
            </a:endParaRPr>
          </a:p>
          <a:p>
            <a:pPr>
              <a:buClr>
                <a:schemeClr val="bg1"/>
              </a:buClr>
            </a:pPr>
            <a:r>
              <a:rPr lang="en-US" altLang="en-US" sz="1800" dirty="0">
                <a:solidFill>
                  <a:schemeClr val="lt2"/>
                </a:solidFill>
              </a:rPr>
              <a:t>Output:</a:t>
            </a:r>
            <a:endParaRPr lang="en-US" altLang="en-US" sz="1800" dirty="0">
              <a:solidFill>
                <a:schemeClr val="lt2"/>
              </a:solidFill>
            </a:endParaRPr>
          </a:p>
          <a:p>
            <a:pPr>
              <a:buClr>
                <a:schemeClr val="bg1"/>
              </a:buClr>
            </a:pPr>
            <a:r>
              <a:rPr lang="en-US" altLang="en-US" sz="1100" dirty="0">
                <a:solidFill>
                  <a:schemeClr val="lt2"/>
                </a:solidFill>
              </a:rPr>
              <a:t>Final dataset prepared for model training.</a:t>
            </a:r>
            <a:endParaRPr lang="en-US" altLang="en-US" sz="1100" dirty="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8"/>
          <p:cNvSpPr txBox="1"/>
          <p:nvPr/>
        </p:nvSpPr>
        <p:spPr>
          <a:xfrm>
            <a:off x="801524" y="481841"/>
            <a:ext cx="6288197" cy="55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704020202020204"/>
              <a:buNone/>
            </a:pPr>
            <a:r>
              <a:rPr lang="en-US" altLang="en-US" sz="2400" b="1" i="0" u="none" strike="noStrike" cap="none" dirty="0">
                <a:solidFill>
                  <a:srgbClr val="1BB37E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/>
              </a:rPr>
              <a:t>Machine Learning Models Used</a:t>
            </a:r>
            <a:endParaRPr lang="en-US" altLang="en-US" sz="2400" b="1" i="0" u="none" strike="noStrike" cap="none" dirty="0">
              <a:solidFill>
                <a:srgbClr val="1BB37E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704020202020204"/>
            </a:endParaRPr>
          </a:p>
        </p:txBody>
      </p:sp>
      <p:sp>
        <p:nvSpPr>
          <p:cNvPr id="104" name="Google Shape;104;p8"/>
          <p:cNvSpPr txBox="1"/>
          <p:nvPr/>
        </p:nvSpPr>
        <p:spPr>
          <a:xfrm>
            <a:off x="801524" y="1100253"/>
            <a:ext cx="3725400" cy="3736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altLang="en-US" sz="1100" dirty="0">
                <a:solidFill>
                  <a:schemeClr val="lt2"/>
                </a:solidFill>
              </a:rPr>
              <a:t>We trained four regression models:</a:t>
            </a:r>
            <a:endParaRPr lang="en-US" altLang="en-US" sz="1100" dirty="0">
              <a:solidFill>
                <a:schemeClr val="lt2"/>
              </a:solidFill>
            </a:endParaRPr>
          </a:p>
          <a:p>
            <a:endParaRPr lang="en-US" altLang="en-US" sz="1100" dirty="0">
              <a:solidFill>
                <a:schemeClr val="lt2"/>
              </a:solidFill>
            </a:endParaRPr>
          </a:p>
          <a:p>
            <a:r>
              <a:rPr lang="en-US" altLang="en-US" sz="1100" dirty="0">
                <a:solidFill>
                  <a:schemeClr val="lt2"/>
                </a:solidFill>
              </a:rPr>
              <a:t>1. Linear Regression</a:t>
            </a:r>
            <a:endParaRPr lang="en-US" altLang="en-US" sz="1100" dirty="0">
              <a:solidFill>
                <a:schemeClr val="lt2"/>
              </a:solidFill>
            </a:endParaRPr>
          </a:p>
          <a:p>
            <a:endParaRPr lang="en-US" altLang="en-US" sz="1100" dirty="0">
              <a:solidFill>
                <a:schemeClr val="lt2"/>
              </a:solidFill>
            </a:endParaRPr>
          </a:p>
          <a:p>
            <a:r>
              <a:rPr lang="en-US" altLang="en-US" sz="1100" dirty="0">
                <a:solidFill>
                  <a:schemeClr val="lt2"/>
                </a:solidFill>
              </a:rPr>
              <a:t>         Baseline model</a:t>
            </a:r>
            <a:endParaRPr lang="en-US" altLang="en-US" sz="1100" dirty="0">
              <a:solidFill>
                <a:schemeClr val="lt2"/>
              </a:solidFill>
            </a:endParaRPr>
          </a:p>
          <a:p>
            <a:endParaRPr lang="en-US" altLang="en-US" sz="1100" dirty="0">
              <a:solidFill>
                <a:schemeClr val="lt2"/>
              </a:solidFill>
            </a:endParaRPr>
          </a:p>
          <a:p>
            <a:r>
              <a:rPr lang="en-US" altLang="en-US" sz="1100" dirty="0">
                <a:solidFill>
                  <a:schemeClr val="lt2"/>
                </a:solidFill>
              </a:rPr>
              <a:t>2. Ridge Regression</a:t>
            </a:r>
            <a:endParaRPr lang="en-US" altLang="en-US" sz="1100" dirty="0">
              <a:solidFill>
                <a:schemeClr val="lt2"/>
              </a:solidFill>
            </a:endParaRPr>
          </a:p>
          <a:p>
            <a:endParaRPr lang="en-US" altLang="en-US" sz="1100" dirty="0">
              <a:solidFill>
                <a:schemeClr val="lt2"/>
              </a:solidFill>
            </a:endParaRPr>
          </a:p>
          <a:p>
            <a:r>
              <a:rPr lang="en-US" altLang="en-US" sz="1100" dirty="0">
                <a:solidFill>
                  <a:schemeClr val="lt2"/>
                </a:solidFill>
              </a:rPr>
              <a:t>        Handles multicollinearity (L2 regularization)</a:t>
            </a:r>
            <a:endParaRPr lang="en-US" altLang="en-US" sz="1100" dirty="0">
              <a:solidFill>
                <a:schemeClr val="lt2"/>
              </a:solidFill>
            </a:endParaRPr>
          </a:p>
          <a:p>
            <a:endParaRPr lang="en-US" altLang="en-US" sz="1100" dirty="0">
              <a:solidFill>
                <a:schemeClr val="lt2"/>
              </a:solidFill>
            </a:endParaRPr>
          </a:p>
          <a:p>
            <a:r>
              <a:rPr lang="en-US" altLang="en-US" sz="1100" dirty="0">
                <a:solidFill>
                  <a:schemeClr val="lt2"/>
                </a:solidFill>
              </a:rPr>
              <a:t>3. Lasso Regression</a:t>
            </a:r>
            <a:endParaRPr lang="en-US" altLang="en-US" sz="1100" dirty="0">
              <a:solidFill>
                <a:schemeClr val="lt2"/>
              </a:solidFill>
            </a:endParaRPr>
          </a:p>
          <a:p>
            <a:endParaRPr lang="en-US" altLang="en-US" sz="1100" dirty="0">
              <a:solidFill>
                <a:schemeClr val="lt2"/>
              </a:solidFill>
            </a:endParaRPr>
          </a:p>
          <a:p>
            <a:r>
              <a:rPr lang="en-US" altLang="en-US" sz="1100" dirty="0">
                <a:solidFill>
                  <a:schemeClr val="lt2"/>
                </a:solidFill>
              </a:rPr>
              <a:t>       Performs feature selection (L1 regularization)</a:t>
            </a:r>
            <a:endParaRPr lang="en-US" altLang="en-US" sz="1100" dirty="0">
              <a:solidFill>
                <a:schemeClr val="lt2"/>
              </a:solidFill>
            </a:endParaRPr>
          </a:p>
          <a:p>
            <a:endParaRPr lang="en-US" altLang="en-US" sz="1100" dirty="0">
              <a:solidFill>
                <a:schemeClr val="lt2"/>
              </a:solidFill>
            </a:endParaRPr>
          </a:p>
          <a:p>
            <a:r>
              <a:rPr lang="en-US" altLang="en-US" sz="1100" dirty="0">
                <a:solidFill>
                  <a:schemeClr val="lt2"/>
                </a:solidFill>
              </a:rPr>
              <a:t>4. Random Forest Regression</a:t>
            </a:r>
            <a:endParaRPr lang="en-US" altLang="en-US" sz="1100" dirty="0">
              <a:solidFill>
                <a:schemeClr val="lt2"/>
              </a:solidFill>
            </a:endParaRPr>
          </a:p>
          <a:p>
            <a:endParaRPr lang="en-US" altLang="en-US" sz="1100" dirty="0">
              <a:solidFill>
                <a:schemeClr val="lt2"/>
              </a:solidFill>
            </a:endParaRPr>
          </a:p>
          <a:p>
            <a:r>
              <a:rPr lang="en-US" altLang="en-US" sz="1100" dirty="0">
                <a:solidFill>
                  <a:schemeClr val="lt2"/>
                </a:solidFill>
              </a:rPr>
              <a:t>      Ensemble trees</a:t>
            </a:r>
            <a:endParaRPr lang="en-US" altLang="en-US" sz="1100" dirty="0">
              <a:solidFill>
                <a:schemeClr val="lt2"/>
              </a:solidFill>
            </a:endParaRPr>
          </a:p>
          <a:p>
            <a:endParaRPr lang="en-US" altLang="en-US" sz="1100" dirty="0">
              <a:solidFill>
                <a:schemeClr val="lt2"/>
              </a:solidFill>
            </a:endParaRPr>
          </a:p>
          <a:p>
            <a:r>
              <a:rPr lang="en-US" altLang="en-US" sz="1100" dirty="0">
                <a:solidFill>
                  <a:schemeClr val="lt2"/>
                </a:solidFill>
              </a:rPr>
              <a:t>      Captures nonlinear relationships</a:t>
            </a:r>
            <a:endParaRPr lang="en-US" altLang="en-US" sz="1100" dirty="0">
              <a:solidFill>
                <a:schemeClr val="lt2"/>
              </a:solidFill>
            </a:endParaRPr>
          </a:p>
          <a:p>
            <a:endParaRPr lang="en-US" altLang="en-US" sz="1100" dirty="0">
              <a:solidFill>
                <a:schemeClr val="lt2"/>
              </a:solidFill>
            </a:endParaRPr>
          </a:p>
          <a:p>
            <a:r>
              <a:rPr lang="en-US" altLang="en-US" sz="1100" dirty="0">
                <a:solidFill>
                  <a:schemeClr val="lt2"/>
                </a:solidFill>
              </a:rPr>
              <a:t>      Best overall performance</a:t>
            </a:r>
            <a:endParaRPr lang="en-US" altLang="en-US" sz="1100" dirty="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9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9"/>
          <p:cNvSpPr txBox="1"/>
          <p:nvPr/>
        </p:nvSpPr>
        <p:spPr>
          <a:xfrm>
            <a:off x="815049" y="440240"/>
            <a:ext cx="6352043" cy="55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704020202020204"/>
              <a:buNone/>
            </a:pPr>
            <a:r>
              <a:rPr lang="en-US" altLang="en-US" sz="2400" b="1" i="0" u="none" strike="noStrike" cap="none" dirty="0">
                <a:solidFill>
                  <a:srgbClr val="1BB37E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/>
              </a:rPr>
              <a:t>Model Evaluation</a:t>
            </a:r>
            <a:endParaRPr lang="en-US" altLang="en-US" sz="2400" b="1" i="0" u="none" strike="noStrike" cap="none" dirty="0">
              <a:solidFill>
                <a:srgbClr val="1BB37E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704020202020204"/>
            </a:endParaRPr>
          </a:p>
        </p:txBody>
      </p:sp>
      <p:sp>
        <p:nvSpPr>
          <p:cNvPr id="111" name="Google Shape;111;p9"/>
          <p:cNvSpPr txBox="1"/>
          <p:nvPr/>
        </p:nvSpPr>
        <p:spPr>
          <a:xfrm>
            <a:off x="813779" y="903950"/>
            <a:ext cx="7292201" cy="3613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altLang="en-US" sz="1800" dirty="0">
                <a:solidFill>
                  <a:schemeClr val="lt2"/>
                </a:solidFill>
              </a:rPr>
              <a:t>Metrics Used:</a:t>
            </a:r>
            <a:endParaRPr lang="en-US" altLang="en-US" sz="1800" dirty="0">
              <a:solidFill>
                <a:schemeClr val="lt2"/>
              </a:solidFill>
            </a:endParaRPr>
          </a:p>
          <a:p>
            <a:endParaRPr lang="en-US" altLang="en-US" sz="1100" dirty="0">
              <a:solidFill>
                <a:schemeClr val="lt2"/>
              </a:solidFill>
            </a:endParaRPr>
          </a:p>
          <a:p>
            <a:r>
              <a:rPr lang="en-US" altLang="en-US" sz="1100" dirty="0">
                <a:solidFill>
                  <a:schemeClr val="lt2"/>
                </a:solidFill>
              </a:rPr>
              <a:t>1. R² Score</a:t>
            </a:r>
            <a:endParaRPr lang="en-US" altLang="en-US" sz="1100" dirty="0">
              <a:solidFill>
                <a:schemeClr val="lt2"/>
              </a:solidFill>
            </a:endParaRPr>
          </a:p>
          <a:p>
            <a:endParaRPr lang="en-US" altLang="en-US" sz="1100" dirty="0">
              <a:solidFill>
                <a:schemeClr val="lt2"/>
              </a:solidFill>
            </a:endParaRPr>
          </a:p>
          <a:p>
            <a:r>
              <a:rPr lang="en-US" altLang="en-US" sz="1100" dirty="0">
                <a:solidFill>
                  <a:schemeClr val="lt2"/>
                </a:solidFill>
              </a:rPr>
              <a:t>2. RMSE</a:t>
            </a:r>
            <a:endParaRPr lang="en-US" altLang="en-US" sz="1100" dirty="0">
              <a:solidFill>
                <a:schemeClr val="lt2"/>
              </a:solidFill>
            </a:endParaRPr>
          </a:p>
          <a:p>
            <a:endParaRPr lang="en-US" altLang="en-US" sz="1100" dirty="0">
              <a:solidFill>
                <a:schemeClr val="lt2"/>
              </a:solidFill>
            </a:endParaRPr>
          </a:p>
          <a:p>
            <a:r>
              <a:rPr lang="en-US" altLang="en-US" sz="1100" dirty="0">
                <a:solidFill>
                  <a:schemeClr val="lt2"/>
                </a:solidFill>
              </a:rPr>
              <a:t>3. MAE</a:t>
            </a:r>
            <a:endParaRPr lang="en-US" altLang="en-US" sz="1100" dirty="0">
              <a:solidFill>
                <a:schemeClr val="lt2"/>
              </a:solidFill>
            </a:endParaRPr>
          </a:p>
          <a:p>
            <a:endParaRPr lang="en-US" altLang="en-US" sz="1100" dirty="0">
              <a:solidFill>
                <a:schemeClr val="lt2"/>
              </a:solidFill>
            </a:endParaRPr>
          </a:p>
          <a:p>
            <a:r>
              <a:rPr lang="en-US" altLang="en-US" sz="1100" dirty="0">
                <a:solidFill>
                  <a:schemeClr val="lt2"/>
                </a:solidFill>
              </a:rPr>
              <a:t>4. Cross-Validation Score</a:t>
            </a:r>
            <a:endParaRPr lang="en-US" altLang="en-US" sz="1100" dirty="0">
              <a:solidFill>
                <a:schemeClr val="lt2"/>
              </a:solidFill>
            </a:endParaRPr>
          </a:p>
          <a:p>
            <a:endParaRPr lang="en-US" altLang="en-US" sz="1100" dirty="0">
              <a:solidFill>
                <a:schemeClr val="lt2"/>
              </a:solidFill>
            </a:endParaRPr>
          </a:p>
          <a:p>
            <a:r>
              <a:rPr lang="en-US" altLang="en-US" sz="1800" dirty="0">
                <a:solidFill>
                  <a:schemeClr val="lt2"/>
                </a:solidFill>
              </a:rPr>
              <a:t>Performance Summary:</a:t>
            </a:r>
            <a:endParaRPr lang="en-US" altLang="en-US" sz="1800" dirty="0">
              <a:solidFill>
                <a:schemeClr val="lt2"/>
              </a:solidFill>
            </a:endParaRPr>
          </a:p>
          <a:p>
            <a:endParaRPr lang="en-US" altLang="en-US" sz="1100" dirty="0">
              <a:solidFill>
                <a:schemeClr val="lt2"/>
              </a:solidFill>
            </a:endParaRPr>
          </a:p>
          <a:p>
            <a:r>
              <a:rPr lang="en-US" altLang="en-US" sz="1100" dirty="0">
                <a:solidFill>
                  <a:schemeClr val="lt2"/>
                </a:solidFill>
              </a:rPr>
              <a:t>1. Random Forest → R² ≈ 0.905, lowest RMSE &amp; MAE</a:t>
            </a:r>
            <a:endParaRPr lang="en-US" altLang="en-US" sz="1100" dirty="0">
              <a:solidFill>
                <a:schemeClr val="lt2"/>
              </a:solidFill>
            </a:endParaRPr>
          </a:p>
          <a:p>
            <a:endParaRPr lang="en-US" altLang="en-US" sz="1100" dirty="0">
              <a:solidFill>
                <a:schemeClr val="lt2"/>
              </a:solidFill>
            </a:endParaRPr>
          </a:p>
          <a:p>
            <a:r>
              <a:rPr lang="en-US" altLang="en-US" sz="1100" dirty="0">
                <a:solidFill>
                  <a:schemeClr val="lt2"/>
                </a:solidFill>
              </a:rPr>
              <a:t>2. Linear &amp; Lasso → R² ≈ 0.900</a:t>
            </a:r>
            <a:endParaRPr lang="en-US" altLang="en-US" sz="1100" dirty="0">
              <a:solidFill>
                <a:schemeClr val="lt2"/>
              </a:solidFill>
            </a:endParaRPr>
          </a:p>
          <a:p>
            <a:endParaRPr lang="en-US" altLang="en-US" sz="1100" dirty="0">
              <a:solidFill>
                <a:schemeClr val="lt2"/>
              </a:solidFill>
            </a:endParaRPr>
          </a:p>
          <a:p>
            <a:r>
              <a:rPr lang="en-US" altLang="en-US" sz="1100" dirty="0">
                <a:solidFill>
                  <a:schemeClr val="lt2"/>
                </a:solidFill>
              </a:rPr>
              <a:t>3. Ridge → R² ≈ 0.896</a:t>
            </a:r>
            <a:endParaRPr lang="en-US" altLang="en-US" sz="1100" dirty="0">
              <a:solidFill>
                <a:schemeClr val="lt2"/>
              </a:solidFill>
            </a:endParaRPr>
          </a:p>
          <a:p>
            <a:endParaRPr lang="en-US" altLang="en-US" sz="1100" dirty="0">
              <a:solidFill>
                <a:schemeClr val="lt2"/>
              </a:solidFill>
            </a:endParaRPr>
          </a:p>
          <a:p>
            <a:r>
              <a:rPr lang="en-US" altLang="en-US" sz="1100" dirty="0">
                <a:solidFill>
                  <a:schemeClr val="lt2"/>
                </a:solidFill>
              </a:rPr>
              <a:t>4. Random Forest produced the most stable and accurate predictions.</a:t>
            </a:r>
            <a:endParaRPr lang="en-US" altLang="en-US" sz="1100" dirty="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0"/>
          <p:cNvSpPr txBox="1"/>
          <p:nvPr/>
        </p:nvSpPr>
        <p:spPr>
          <a:xfrm>
            <a:off x="822949" y="515341"/>
            <a:ext cx="5513456" cy="55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704020202020204"/>
              <a:buNone/>
            </a:pPr>
            <a:r>
              <a:rPr lang="en-US" altLang="en-US" sz="2400" b="1" i="0" u="none" strike="noStrike" cap="none" dirty="0">
                <a:solidFill>
                  <a:srgbClr val="1BB37E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/>
              </a:rPr>
              <a:t>Best Model &amp; Key Insights</a:t>
            </a:r>
            <a:endParaRPr lang="en-US" altLang="en-US" sz="2400" b="1" i="0" u="none" strike="noStrike" cap="none" dirty="0">
              <a:solidFill>
                <a:srgbClr val="1BB37E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704020202020204"/>
            </a:endParaRPr>
          </a:p>
        </p:txBody>
      </p:sp>
      <p:sp>
        <p:nvSpPr>
          <p:cNvPr id="118" name="Google Shape;118;p10"/>
          <p:cNvSpPr txBox="1"/>
          <p:nvPr/>
        </p:nvSpPr>
        <p:spPr>
          <a:xfrm>
            <a:off x="822949" y="1329219"/>
            <a:ext cx="4766481" cy="3551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altLang="en-US" sz="1800" dirty="0">
                <a:solidFill>
                  <a:schemeClr val="lt2"/>
                </a:solidFill>
              </a:rPr>
              <a:t>Best Performing Model:</a:t>
            </a:r>
            <a:endParaRPr lang="en-US" altLang="en-US" sz="1800" dirty="0">
              <a:solidFill>
                <a:schemeClr val="lt2"/>
              </a:solidFill>
            </a:endParaRPr>
          </a:p>
          <a:p>
            <a:r>
              <a:rPr lang="en-US" altLang="en-US" sz="1100" dirty="0">
                <a:solidFill>
                  <a:schemeClr val="lt2"/>
                </a:solidFill>
              </a:rPr>
              <a:t>⭐ Random Forest Regressor</a:t>
            </a:r>
            <a:endParaRPr lang="en-US" altLang="en-US" sz="1100" dirty="0">
              <a:solidFill>
                <a:schemeClr val="lt2"/>
              </a:solidFill>
            </a:endParaRPr>
          </a:p>
          <a:p>
            <a:endParaRPr lang="en-US" altLang="en-US" sz="1100" dirty="0">
              <a:solidFill>
                <a:schemeClr val="lt2"/>
              </a:solidFill>
            </a:endParaRPr>
          </a:p>
          <a:p>
            <a:r>
              <a:rPr lang="en-US" altLang="en-US" sz="1800" dirty="0">
                <a:solidFill>
                  <a:schemeClr val="lt2"/>
                </a:solidFill>
              </a:rPr>
              <a:t>Why it performed best?</a:t>
            </a:r>
            <a:endParaRPr lang="en-US" altLang="en-US" sz="1800" dirty="0">
              <a:solidFill>
                <a:schemeClr val="lt2"/>
              </a:solidFill>
            </a:endParaRPr>
          </a:p>
          <a:p>
            <a:endParaRPr lang="en-US" altLang="en-US" sz="1100" dirty="0">
              <a:solidFill>
                <a:schemeClr val="lt2"/>
              </a:solidFill>
            </a:endParaRPr>
          </a:p>
          <a:p>
            <a:r>
              <a:rPr lang="en-US" altLang="en-US" sz="1100" dirty="0">
                <a:solidFill>
                  <a:schemeClr val="lt2"/>
                </a:solidFill>
              </a:rPr>
              <a:t>1. Handles nonlinear patterns</a:t>
            </a:r>
            <a:endParaRPr lang="en-US" altLang="en-US" sz="1100" dirty="0">
              <a:solidFill>
                <a:schemeClr val="lt2"/>
              </a:solidFill>
            </a:endParaRPr>
          </a:p>
          <a:p>
            <a:endParaRPr lang="en-US" altLang="en-US" sz="1100" dirty="0">
              <a:solidFill>
                <a:schemeClr val="lt2"/>
              </a:solidFill>
            </a:endParaRPr>
          </a:p>
          <a:p>
            <a:r>
              <a:rPr lang="en-US" altLang="en-US" sz="1100" dirty="0">
                <a:solidFill>
                  <a:schemeClr val="lt2"/>
                </a:solidFill>
              </a:rPr>
              <a:t>2. Works well with correlated variables</a:t>
            </a:r>
            <a:endParaRPr lang="en-US" altLang="en-US" sz="1100" dirty="0">
              <a:solidFill>
                <a:schemeClr val="lt2"/>
              </a:solidFill>
            </a:endParaRPr>
          </a:p>
          <a:p>
            <a:endParaRPr lang="en-US" altLang="en-US" sz="1100" dirty="0">
              <a:solidFill>
                <a:schemeClr val="lt2"/>
              </a:solidFill>
            </a:endParaRPr>
          </a:p>
          <a:p>
            <a:r>
              <a:rPr lang="en-US" altLang="en-US" sz="1100" dirty="0">
                <a:solidFill>
                  <a:schemeClr val="lt2"/>
                </a:solidFill>
              </a:rPr>
              <a:t>3. Reduces overfitting through ensemble averaging</a:t>
            </a:r>
            <a:endParaRPr lang="en-US" altLang="en-US" sz="1100" dirty="0">
              <a:solidFill>
                <a:schemeClr val="lt2"/>
              </a:solidFill>
            </a:endParaRPr>
          </a:p>
          <a:p>
            <a:endParaRPr lang="en-US" altLang="en-US" sz="1100" dirty="0">
              <a:solidFill>
                <a:schemeClr val="lt2"/>
              </a:solidFill>
            </a:endParaRPr>
          </a:p>
          <a:p>
            <a:r>
              <a:rPr lang="en-US" altLang="en-US" sz="1800" dirty="0">
                <a:solidFill>
                  <a:schemeClr val="lt2"/>
                </a:solidFill>
              </a:rPr>
              <a:t>Feature Importance (Insights):</a:t>
            </a:r>
            <a:endParaRPr lang="en-US" altLang="en-US" sz="1800" dirty="0">
              <a:solidFill>
                <a:schemeClr val="lt2"/>
              </a:solidFill>
            </a:endParaRPr>
          </a:p>
          <a:p>
            <a:endParaRPr lang="en-US" altLang="en-US" sz="1100" dirty="0">
              <a:solidFill>
                <a:schemeClr val="lt2"/>
              </a:solidFill>
            </a:endParaRPr>
          </a:p>
          <a:p>
            <a:r>
              <a:rPr lang="en-US" altLang="en-US" sz="1100" dirty="0">
                <a:solidFill>
                  <a:schemeClr val="lt2"/>
                </a:solidFill>
              </a:rPr>
              <a:t>1. R&amp;D Spend — strongest driver of profit</a:t>
            </a:r>
            <a:endParaRPr lang="en-US" altLang="en-US" sz="1100" dirty="0">
              <a:solidFill>
                <a:schemeClr val="lt2"/>
              </a:solidFill>
            </a:endParaRPr>
          </a:p>
          <a:p>
            <a:endParaRPr lang="en-US" altLang="en-US" sz="1100" dirty="0">
              <a:solidFill>
                <a:schemeClr val="lt2"/>
              </a:solidFill>
            </a:endParaRPr>
          </a:p>
          <a:p>
            <a:r>
              <a:rPr lang="en-US" altLang="en-US" sz="1100" dirty="0">
                <a:solidFill>
                  <a:schemeClr val="lt2"/>
                </a:solidFill>
              </a:rPr>
              <a:t>2. Marketing Spend — secondary influencer</a:t>
            </a:r>
            <a:endParaRPr lang="en-US" altLang="en-US" sz="1100" dirty="0">
              <a:solidFill>
                <a:schemeClr val="lt2"/>
              </a:solidFill>
            </a:endParaRPr>
          </a:p>
          <a:p>
            <a:endParaRPr lang="en-US" altLang="en-US" sz="1100" dirty="0">
              <a:solidFill>
                <a:schemeClr val="lt2"/>
              </a:solidFill>
            </a:endParaRPr>
          </a:p>
          <a:p>
            <a:r>
              <a:rPr lang="en-US" altLang="en-US" sz="1100" dirty="0">
                <a:solidFill>
                  <a:schemeClr val="lt2"/>
                </a:solidFill>
              </a:rPr>
              <a:t>3. Administration Cost — weakest impact</a:t>
            </a:r>
            <a:endParaRPr lang="en-US" altLang="en-US" sz="1100" dirty="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g2e6c5487893_0_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2e6c5487893_0_5"/>
          <p:cNvSpPr txBox="1"/>
          <p:nvPr/>
        </p:nvSpPr>
        <p:spPr>
          <a:xfrm>
            <a:off x="783400" y="288456"/>
            <a:ext cx="5662476" cy="55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704020202020204"/>
              <a:buNone/>
            </a:pPr>
            <a:r>
              <a:rPr lang="en-US" altLang="en-US" sz="2400" b="1" i="0" u="none" strike="noStrike" cap="none" dirty="0">
                <a:solidFill>
                  <a:srgbClr val="1BB37E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/>
              </a:rPr>
              <a:t>Conclusion &amp; Future Work</a:t>
            </a:r>
            <a:endParaRPr lang="en-US" altLang="en-US" sz="2400" b="1" i="0" u="none" strike="noStrike" cap="none" dirty="0">
              <a:solidFill>
                <a:srgbClr val="1BB37E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704020202020204"/>
            </a:endParaRPr>
          </a:p>
        </p:txBody>
      </p:sp>
      <p:sp>
        <p:nvSpPr>
          <p:cNvPr id="125" name="Google Shape;125;g2e6c5487893_0_5"/>
          <p:cNvSpPr txBox="1"/>
          <p:nvPr/>
        </p:nvSpPr>
        <p:spPr>
          <a:xfrm>
            <a:off x="2188925" y="839056"/>
            <a:ext cx="5027903" cy="315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altLang="en-US" sz="1800" dirty="0">
                <a:solidFill>
                  <a:schemeClr val="lt2"/>
                </a:solidFill>
              </a:rPr>
              <a:t>Conclusion:</a:t>
            </a:r>
            <a:endParaRPr lang="en-US" altLang="en-US" sz="1800" dirty="0">
              <a:solidFill>
                <a:schemeClr val="lt2"/>
              </a:solidFill>
            </a:endParaRPr>
          </a:p>
          <a:p>
            <a:endParaRPr lang="en-US" altLang="en-US" sz="1050" dirty="0">
              <a:solidFill>
                <a:schemeClr val="lt2"/>
              </a:solidFill>
            </a:endParaRPr>
          </a:p>
          <a:p>
            <a:pPr marL="0" indent="0">
              <a:buFont typeface="Arial" panose="020B0704020202020204" pitchFamily="34" charset="0"/>
              <a:buNone/>
            </a:pPr>
            <a:r>
              <a:rPr lang="en-US" altLang="en-US" sz="1050" dirty="0">
                <a:solidFill>
                  <a:schemeClr val="lt2"/>
                </a:solidFill>
              </a:rPr>
              <a:t>1. Machine Learning effectively predicts company profit.</a:t>
            </a:r>
            <a:endParaRPr lang="en-US" altLang="en-US" sz="1050" dirty="0">
              <a:solidFill>
                <a:schemeClr val="lt2"/>
              </a:solidFill>
            </a:endParaRPr>
          </a:p>
          <a:p>
            <a:pPr marL="0" indent="0">
              <a:buFont typeface="Arial" panose="020B0704020202020204" pitchFamily="34" charset="0"/>
              <a:buNone/>
            </a:pPr>
            <a:r>
              <a:rPr lang="en-US" altLang="en-US" sz="1050" dirty="0">
                <a:solidFill>
                  <a:schemeClr val="lt2"/>
                </a:solidFill>
              </a:rPr>
              <a:t> </a:t>
            </a:r>
            <a:endParaRPr lang="en-US" altLang="en-US" sz="1050" dirty="0">
              <a:solidFill>
                <a:schemeClr val="lt2"/>
              </a:solidFill>
            </a:endParaRPr>
          </a:p>
          <a:p>
            <a:pPr marL="0" indent="0">
              <a:buFont typeface="Arial" panose="020B0704020202020204" pitchFamily="34" charset="0"/>
              <a:buNone/>
            </a:pPr>
            <a:r>
              <a:rPr lang="en-US" altLang="en-US" sz="1050" dirty="0">
                <a:solidFill>
                  <a:schemeClr val="lt2"/>
                </a:solidFill>
              </a:rPr>
              <a:t>2. R&amp;D investment plays the most critical role.</a:t>
            </a:r>
            <a:endParaRPr lang="en-US" altLang="en-US" sz="1050" dirty="0">
              <a:solidFill>
                <a:schemeClr val="lt2"/>
              </a:solidFill>
            </a:endParaRPr>
          </a:p>
          <a:p>
            <a:pPr marL="171450" indent="-171450">
              <a:buFont typeface="Arial" panose="020B0704020202020204" pitchFamily="34" charset="0"/>
              <a:buChar char="•"/>
            </a:pPr>
            <a:endParaRPr lang="en-US" altLang="en-US" sz="1050" dirty="0">
              <a:solidFill>
                <a:schemeClr val="lt2"/>
              </a:solidFill>
            </a:endParaRPr>
          </a:p>
          <a:p>
            <a:r>
              <a:rPr lang="en-US" altLang="en-US" sz="1050" dirty="0">
                <a:solidFill>
                  <a:schemeClr val="lt2"/>
                </a:solidFill>
              </a:rPr>
              <a:t>3. Random Forest is the most suitable model for this dataset.Future Work:</a:t>
            </a:r>
            <a:endParaRPr lang="en-US" altLang="en-US" sz="1050" dirty="0">
              <a:solidFill>
                <a:schemeClr val="lt2"/>
              </a:solidFill>
            </a:endParaRPr>
          </a:p>
          <a:p>
            <a:endParaRPr lang="en-US" altLang="en-US" sz="1050" dirty="0">
              <a:solidFill>
                <a:schemeClr val="lt2"/>
              </a:solidFill>
            </a:endParaRPr>
          </a:p>
          <a:p>
            <a:r>
              <a:rPr lang="en-US" altLang="en-US" sz="1800" dirty="0">
                <a:solidFill>
                  <a:schemeClr val="lt2"/>
                </a:solidFill>
              </a:rPr>
              <a:t>Future Work:</a:t>
            </a:r>
            <a:endParaRPr lang="en-US" altLang="en-US" sz="1800" dirty="0">
              <a:solidFill>
                <a:schemeClr val="lt2"/>
              </a:solidFill>
            </a:endParaRPr>
          </a:p>
          <a:p>
            <a:endParaRPr lang="en-US" altLang="en-US" sz="1050" dirty="0">
              <a:solidFill>
                <a:schemeClr val="lt2"/>
              </a:solidFill>
            </a:endParaRPr>
          </a:p>
          <a:p>
            <a:r>
              <a:rPr lang="en-US" altLang="en-US" sz="1050" dirty="0">
                <a:solidFill>
                  <a:schemeClr val="lt2"/>
                </a:solidFill>
              </a:rPr>
              <a:t>1. Use larger datasets for stronger generalization</a:t>
            </a:r>
            <a:endParaRPr lang="en-US" altLang="en-US" sz="1050" dirty="0">
              <a:solidFill>
                <a:schemeClr val="lt2"/>
              </a:solidFill>
            </a:endParaRPr>
          </a:p>
          <a:p>
            <a:endParaRPr lang="en-US" altLang="en-US" sz="1050" dirty="0">
              <a:solidFill>
                <a:schemeClr val="lt2"/>
              </a:solidFill>
            </a:endParaRPr>
          </a:p>
          <a:p>
            <a:r>
              <a:rPr lang="en-US" altLang="en-US" sz="1050" dirty="0">
                <a:solidFill>
                  <a:schemeClr val="lt2"/>
                </a:solidFill>
              </a:rPr>
              <a:t>2. Add more features (market trends, economic factors, competition)</a:t>
            </a:r>
            <a:endParaRPr lang="en-US" altLang="en-US" sz="1050" dirty="0">
              <a:solidFill>
                <a:schemeClr val="lt2"/>
              </a:solidFill>
            </a:endParaRPr>
          </a:p>
          <a:p>
            <a:endParaRPr lang="en-US" altLang="en-US" sz="1050" dirty="0">
              <a:solidFill>
                <a:schemeClr val="lt2"/>
              </a:solidFill>
            </a:endParaRPr>
          </a:p>
          <a:p>
            <a:r>
              <a:rPr lang="en-US" altLang="en-US" sz="1050" dirty="0">
                <a:solidFill>
                  <a:schemeClr val="lt2"/>
                </a:solidFill>
              </a:rPr>
              <a:t>3. Use advanced models like XGBoost, Neural Networks</a:t>
            </a:r>
            <a:endParaRPr lang="en-US" altLang="en-US" sz="1050" dirty="0">
              <a:solidFill>
                <a:schemeClr val="lt2"/>
              </a:solidFill>
            </a:endParaRPr>
          </a:p>
          <a:p>
            <a:endParaRPr lang="en-US" altLang="en-US" sz="1050" dirty="0">
              <a:solidFill>
                <a:schemeClr val="lt2"/>
              </a:solidFill>
            </a:endParaRPr>
          </a:p>
          <a:p>
            <a:r>
              <a:rPr lang="en-US" altLang="en-US" sz="1050" dirty="0">
                <a:solidFill>
                  <a:schemeClr val="lt2"/>
                </a:solidFill>
              </a:rPr>
              <a:t>4. Deploy as a real-time business decision support tool</a:t>
            </a:r>
            <a:endParaRPr lang="en-US" altLang="en-US" sz="1050" dirty="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3106420" y="2209165"/>
            <a:ext cx="7092950" cy="5111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g2e6c5487893_0_1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g2e6c5487893_0_1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2e6c5487893_0_18"/>
          <p:cNvSpPr txBox="1"/>
          <p:nvPr/>
        </p:nvSpPr>
        <p:spPr>
          <a:xfrm>
            <a:off x="3634350" y="2302350"/>
            <a:ext cx="1875300" cy="535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 panose="020B0704020202020204"/>
              <a:buNone/>
            </a:pPr>
            <a:endParaRPr sz="2300" b="1" i="0" u="none" strike="noStrike" cap="none">
              <a:solidFill>
                <a:srgbClr val="1BB37E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3438</Words>
  <Application>WPS Presentation</Application>
  <PresentationFormat>On-screen Show (16:9)</PresentationFormat>
  <Paragraphs>206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Arial</vt:lpstr>
      <vt:lpstr>SimSun</vt:lpstr>
      <vt:lpstr>Wingdings</vt:lpstr>
      <vt:lpstr>Arial</vt:lpstr>
      <vt:lpstr>Times New Roman</vt:lpstr>
      <vt:lpstr>Microsoft YaHei</vt:lpstr>
      <vt:lpstr>汉仪旗黑</vt:lpstr>
      <vt:lpstr>Arial Unicode MS</vt:lpstr>
      <vt:lpstr>宋体-简</vt:lpstr>
      <vt:lpstr>Apple Color Emoji</vt:lpstr>
      <vt:lpstr>Simple Light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Pavani Krishna Priya Chava</dc:creator>
  <cp:lastModifiedBy>Himaja Arabati</cp:lastModifiedBy>
  <cp:revision>5</cp:revision>
  <dcterms:created xsi:type="dcterms:W3CDTF">2025-12-01T23:43:47Z</dcterms:created>
  <dcterms:modified xsi:type="dcterms:W3CDTF">2025-12-01T23:43:47Z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7088D8811526152633282E6937CBF056_43</vt:lpwstr>
  </property>
  <property fmtid="{D5CDD505-2E9C-101B-9397-08002B2CF9AE}" pid="3" name="KSOProductBuildVer">
    <vt:lpwstr>1033-12.1.23152.23152</vt:lpwstr>
  </property>
</Properties>
</file>